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4"/>
    <p:restoredTop sz="94675"/>
  </p:normalViewPr>
  <p:slideViewPr>
    <p:cSldViewPr snapToGrid="0">
      <p:cViewPr>
        <p:scale>
          <a:sx n="159" d="100"/>
          <a:sy n="159" d="100"/>
        </p:scale>
        <p:origin x="-12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1A3A9-DE0C-B54E-B28C-6546C0BB25CE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55836A-5F52-2440-8C4A-F63939550C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6556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17F038-C1A6-D659-3620-B9D90C8B3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BD6E24D-13C1-2735-C076-1529F6022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3578D0-93D9-583D-E026-4CAD67687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CEBF8-DC12-4A41-BC42-8B1EDD45961F}" type="datetime1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18B47D-A38F-356D-EDD1-BB0051CA6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(c) 2026. Kunihiko Ohnaka. All rights reserved.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E20565-57F7-46F0-71F7-BBB67CDB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C1CA-9BC9-BA47-8E4F-AE5B128D7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0004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054F0D-0937-2E6E-133F-44D237F87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BA511A-554E-C12D-FA64-2B70AB96F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772741-6058-4FD2-A229-C65E42C59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6B9C4-73C3-3348-96F9-7E27AE0CAA35}" type="datetime1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40FDC5-4564-95E7-6E8B-FE4F2065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(c) 2026. Kunihiko Ohnaka. All rights reserved.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47BF55-D5AC-CD6F-CEE5-31092F90B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C1CA-9BC9-BA47-8E4F-AE5B128D7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4785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E87D01-4806-386A-D894-6DC94C774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8ADBBF2-E68A-47DF-6654-8668C2882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6BA8E3-3FB3-12D5-03D0-B9E74D017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928D2-3A9E-1840-8265-6ACB352173F2}" type="datetime1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70CC8E-8DDB-1F8B-BD35-54573ABA4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(c) 2026. Kunihiko Ohnaka. All rights reserved.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53C795-E371-066C-D234-ED8774632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C1CA-9BC9-BA47-8E4F-AE5B128D7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6227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68460E-D9D0-2B37-81FF-C04B68917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C51250-6DF5-7CA9-8F54-BDFA25E09A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6D9B11-4002-2161-C840-7A6B298D2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9CFEA9-A7B9-8EE1-47A9-350EA8CC6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A7542-7F94-0B47-9902-FD0E5C4048F9}" type="datetime1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C7C15E4-1A45-367F-9EC8-F84C577E3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(c) 2026. Kunihiko Ohnaka. All rights reserved.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6959A64-B2E6-9B9A-DE4D-F95B6844D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C1CA-9BC9-BA47-8E4F-AE5B128D7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2927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898D71-3AFA-B849-9B0A-F6D454766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0F220DC-B7C9-6374-1305-A408AA39C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3AD697-E6FB-31CE-B30A-3599F52CF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5D591C5-632A-6781-1DCE-133453AA6C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BFD7947-652B-2162-02A8-ED7249911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2E0E1CC-72C0-5DEB-F6DF-378E3C9A7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6AEAD-6313-9341-8AE9-BDF2811566C2}" type="datetime1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2F041FD-D7BF-2115-9620-07AAB730B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(c) 2026. Kunihiko Ohnaka. All rights reserved.</a:t>
            </a:r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1199D06-06AC-60EB-52AA-2BEC708A2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C1CA-9BC9-BA47-8E4F-AE5B128D7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0114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890708-ECE2-ECAA-D1A3-3CD6D23C4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866A765-D782-EF87-0E21-53D291518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3F53-62DE-0A4D-B1B3-E9160981BB2E}" type="datetime1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6CEEBF7-8BAC-6D92-8A3E-26D0CBA3A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(c) 2026. Kunihiko Ohnaka. All rights reserved.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458E75D-8946-3AB6-A6D0-B04BF35A0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C1CA-9BC9-BA47-8E4F-AE5B128D7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9887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E963D5A-44C1-EA1B-49B9-784D76B42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02CFB-2461-C24B-8477-FC7B41587221}" type="datetime1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E462ABC-9D3A-664E-B032-28CB2BD6C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(c) 2026. Kunihiko Ohnaka. All rights reserved.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F5FC2DE-E069-00F0-20E0-0890AA5E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C1CA-9BC9-BA47-8E4F-AE5B128D7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923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4D86DC-D895-DA63-7968-73780AB9C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4B95AE-105A-AFC5-6CEC-F90C7EEF0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BF24237-C742-4EC3-E8C4-9240E278D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B33825-03EA-B1F7-7C59-228929FE7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4A98F-0142-AE4A-B78F-DF7D9A439098}" type="datetime1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5DE2BE4-F71C-A50C-894E-00BE1566B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(c) 2026. Kunihiko Ohnaka. All rights reserved.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852352-6406-CCCE-4A7F-06408147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C1CA-9BC9-BA47-8E4F-AE5B128D7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7440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268C97-B723-F980-82D8-3B9F6BE45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F0F97FE-6FF6-9B6D-B4AB-75840D8EA3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EDF8D5-5E32-3E8C-4DF9-57C73A19A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4FA00B-BA3A-FD9B-8C13-343BC822F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ED2A2-CA9D-E04D-8808-299DB345BAE9}" type="datetime1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B0F0A4-2125-2AC9-3318-1B01DD517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(c) 2026. Kunihiko Ohnaka. All rights reserved.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8C54D3F-A486-E588-7C50-97476C8AD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C1CA-9BC9-BA47-8E4F-AE5B128D7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0926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4E4FEC-50FA-3849-F960-B10098DEC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4CCFED3-5DE3-DB8A-F4FD-5467FF3C6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F2642E-A00D-B3B6-09D5-6C61FE2BA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CFA6A-3358-EF46-A120-F8F560EA8934}" type="datetime1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A8FB9B-7893-C744-E62D-CC6908E4D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(c) 2026. Kunihiko Ohnaka. All rights reserved.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38EF4A-F7E9-6604-C941-E2BA3911D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C1CA-9BC9-BA47-8E4F-AE5B128D7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6520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A634C25-3B03-0D9C-26E6-C825627771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49136EC-16D4-BA13-F9D4-43A049CF2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FB490E-08D2-CEA9-0D2E-AEFED91BD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45CA2-E91C-6D44-A1B3-C66957864EEE}" type="datetime1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AF3F53-7878-CD0D-062A-D0502CBE0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(c) 2026. Kunihiko Ohnaka. All rights reserved.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2D639C-92DB-5AE2-3EC2-1D007F11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C1CA-9BC9-BA47-8E4F-AE5B128D7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3079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86D3CB9-215F-42AF-8787-915778D2F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882C8A-48CB-FB76-D7E8-A9778744A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FE2265-4D34-30DB-DB52-E59C6957D0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48EC6A-A133-C84F-B5EE-7E2745BABCEB}" type="datetime1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6DCCF0-0A8B-0C9E-7D2C-715297C93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kumimoji="1" lang="en-US" altLang="ja-JP"/>
              <a:t>Copyright (c) 2026. Kunihiko Ohnaka. All rights reserved.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6109C6-E313-098C-27EE-573634B0C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BC1CA-9BC9-BA47-8E4F-AE5B128D71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8748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6ABA3A-352B-32C5-CB46-BC4B9B2724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Inside</a:t>
            </a:r>
            <a:br>
              <a:rPr kumimoji="1" lang="en-US" altLang="ja-JP" dirty="0"/>
            </a:br>
            <a:r>
              <a:rPr kumimoji="1" lang="en-US" altLang="ja-JP" dirty="0" err="1"/>
              <a:t>RetroCastX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6862307-FF18-1F36-DA65-30F7E93B2D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2727FE9-91FB-B647-5C1B-9A5FE3C7E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(c) 2026. Kunihiko Ohnaka. All rights reserved.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3018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DE8A2C7-3731-E33F-01B1-CF4A797F7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(c) 2026. Kunihiko Ohnaka. All rights reserved.</a:t>
            </a:r>
            <a:endParaRPr kumimoji="1" lang="ja-JP" altLang="en-US"/>
          </a:p>
        </p:txBody>
      </p:sp>
      <p:sp>
        <p:nvSpPr>
          <p:cNvPr id="26" name="Google Shape;3961;p51">
            <a:extLst>
              <a:ext uri="{FF2B5EF4-FFF2-40B4-BE49-F238E27FC236}">
                <a16:creationId xmlns:a16="http://schemas.microsoft.com/office/drawing/2014/main" id="{D80DC025-6DFC-FABE-46F5-C9C685B8B4F1}"/>
              </a:ext>
            </a:extLst>
          </p:cNvPr>
          <p:cNvSpPr txBox="1"/>
          <p:nvPr/>
        </p:nvSpPr>
        <p:spPr>
          <a:xfrm>
            <a:off x="2217785" y="1654120"/>
            <a:ext cx="396887" cy="1222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G2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G4</a:t>
            </a:r>
            <a:endParaRPr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G6</a:t>
            </a:r>
            <a:endParaRPr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G8</a:t>
            </a:r>
            <a:endParaRPr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IOGND</a:t>
            </a:r>
            <a:endParaRPr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GND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B0</a:t>
            </a:r>
            <a:endParaRPr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B2</a:t>
            </a:r>
            <a:endParaRPr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B4</a:t>
            </a:r>
            <a:endParaRPr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B6</a:t>
            </a:r>
            <a:endParaRPr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B8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DTCLK</a:t>
            </a:r>
            <a:endParaRPr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IOVDD</a:t>
            </a:r>
            <a:endParaRPr dirty="0"/>
          </a:p>
        </p:txBody>
      </p:sp>
      <p:sp>
        <p:nvSpPr>
          <p:cNvPr id="27" name="Google Shape;3962;p51">
            <a:extLst>
              <a:ext uri="{FF2B5EF4-FFF2-40B4-BE49-F238E27FC236}">
                <a16:creationId xmlns:a16="http://schemas.microsoft.com/office/drawing/2014/main" id="{1BD1DB03-65E1-E84A-12EE-1E5E5BD438F9}"/>
              </a:ext>
            </a:extLst>
          </p:cNvPr>
          <p:cNvSpPr txBox="1"/>
          <p:nvPr/>
        </p:nvSpPr>
        <p:spPr>
          <a:xfrm>
            <a:off x="1999878" y="1654120"/>
            <a:ext cx="396887" cy="1222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G3</a:t>
            </a:r>
            <a:endParaRPr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G5</a:t>
            </a:r>
            <a:endParaRPr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G7</a:t>
            </a:r>
            <a:endParaRPr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G9</a:t>
            </a:r>
            <a:endParaRPr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IOVDD</a:t>
            </a:r>
            <a:endParaRPr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DVDD</a:t>
            </a:r>
            <a:endParaRPr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B1</a:t>
            </a:r>
            <a:endParaRPr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B3</a:t>
            </a:r>
            <a:endParaRPr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B5</a:t>
            </a:r>
            <a:endParaRPr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B7</a:t>
            </a:r>
            <a:endParaRPr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B9</a:t>
            </a:r>
            <a:endParaRPr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IOGND</a:t>
            </a:r>
            <a:endParaRPr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-</a:t>
            </a:r>
            <a:endParaRPr dirty="0"/>
          </a:p>
        </p:txBody>
      </p:sp>
      <p:grpSp>
        <p:nvGrpSpPr>
          <p:cNvPr id="28" name="Google Shape;3963;p51">
            <a:extLst>
              <a:ext uri="{FF2B5EF4-FFF2-40B4-BE49-F238E27FC236}">
                <a16:creationId xmlns:a16="http://schemas.microsoft.com/office/drawing/2014/main" id="{7194F43D-7DEA-E855-1BB8-61940855DC82}"/>
              </a:ext>
            </a:extLst>
          </p:cNvPr>
          <p:cNvGrpSpPr/>
          <p:nvPr/>
        </p:nvGrpSpPr>
        <p:grpSpPr>
          <a:xfrm>
            <a:off x="2499307" y="1647704"/>
            <a:ext cx="344916" cy="1225810"/>
            <a:chOff x="5407550" y="3283280"/>
            <a:chExt cx="344916" cy="1225810"/>
          </a:xfrm>
        </p:grpSpPr>
        <p:sp>
          <p:nvSpPr>
            <p:cNvPr id="29" name="Google Shape;3964;p51">
              <a:extLst>
                <a:ext uri="{FF2B5EF4-FFF2-40B4-BE49-F238E27FC236}">
                  <a16:creationId xmlns:a16="http://schemas.microsoft.com/office/drawing/2014/main" id="{E50C5963-5AC8-F9F7-27EB-68380B53AC6B}"/>
                </a:ext>
              </a:extLst>
            </p:cNvPr>
            <p:cNvSpPr txBox="1"/>
            <p:nvPr/>
          </p:nvSpPr>
          <p:spPr>
            <a:xfrm>
              <a:off x="5510092" y="3283280"/>
              <a:ext cx="242374" cy="12226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50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48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46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44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42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40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38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36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34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32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30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28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26</a:t>
              </a:r>
              <a:endParaRPr dirty="0"/>
            </a:p>
          </p:txBody>
        </p:sp>
        <p:sp>
          <p:nvSpPr>
            <p:cNvPr id="30" name="Google Shape;3965;p51">
              <a:extLst>
                <a:ext uri="{FF2B5EF4-FFF2-40B4-BE49-F238E27FC236}">
                  <a16:creationId xmlns:a16="http://schemas.microsoft.com/office/drawing/2014/main" id="{9496527F-96AA-164F-C59C-5FE3939EFA44}"/>
                </a:ext>
              </a:extLst>
            </p:cNvPr>
            <p:cNvSpPr txBox="1"/>
            <p:nvPr/>
          </p:nvSpPr>
          <p:spPr>
            <a:xfrm>
              <a:off x="5407550" y="3286488"/>
              <a:ext cx="242374" cy="12226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49</a:t>
              </a:r>
              <a:endParaRPr dirty="0"/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47</a:t>
              </a:r>
              <a:endParaRPr dirty="0"/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45</a:t>
              </a:r>
              <a:endParaRPr dirty="0"/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43</a:t>
              </a:r>
              <a:endParaRPr dirty="0"/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41</a:t>
              </a:r>
              <a:endParaRPr dirty="0"/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39</a:t>
              </a:r>
              <a:endParaRPr dirty="0"/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37</a:t>
              </a:r>
              <a:endParaRPr dirty="0"/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35</a:t>
              </a:r>
              <a:endParaRPr dirty="0"/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33</a:t>
              </a:r>
              <a:endParaRPr dirty="0"/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31</a:t>
              </a:r>
              <a:endParaRPr dirty="0"/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29</a:t>
              </a:r>
              <a:endParaRPr dirty="0"/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27</a:t>
              </a:r>
              <a:b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</a:b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-</a:t>
              </a:r>
            </a:p>
          </p:txBody>
        </p:sp>
        <p:sp>
          <p:nvSpPr>
            <p:cNvPr id="31" name="Google Shape;3966;p51">
              <a:extLst>
                <a:ext uri="{FF2B5EF4-FFF2-40B4-BE49-F238E27FC236}">
                  <a16:creationId xmlns:a16="http://schemas.microsoft.com/office/drawing/2014/main" id="{E24892E8-A49F-461B-02AA-F78F560DBAA1}"/>
                </a:ext>
              </a:extLst>
            </p:cNvPr>
            <p:cNvSpPr/>
            <p:nvPr/>
          </p:nvSpPr>
          <p:spPr>
            <a:xfrm>
              <a:off x="5466802" y="3291340"/>
              <a:ext cx="211420" cy="1182803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65">
                <a:solidFill>
                  <a:schemeClr val="lt1"/>
                </a:solidFill>
                <a:latin typeface="HeadLineA"/>
                <a:ea typeface="HeadLineA"/>
                <a:cs typeface="HeadLineA"/>
                <a:sym typeface="HeadLineA"/>
              </a:endParaRPr>
            </a:p>
          </p:txBody>
        </p:sp>
      </p:grp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7B078692-0707-4A03-D442-5147BA560900}"/>
              </a:ext>
            </a:extLst>
          </p:cNvPr>
          <p:cNvGrpSpPr/>
          <p:nvPr/>
        </p:nvGrpSpPr>
        <p:grpSpPr>
          <a:xfrm>
            <a:off x="1269615" y="296997"/>
            <a:ext cx="1574608" cy="1231121"/>
            <a:chOff x="1269615" y="296997"/>
            <a:chExt cx="1574608" cy="1231121"/>
          </a:xfrm>
        </p:grpSpPr>
        <p:sp>
          <p:nvSpPr>
            <p:cNvPr id="43" name="Google Shape;3966;p51">
              <a:extLst>
                <a:ext uri="{FF2B5EF4-FFF2-40B4-BE49-F238E27FC236}">
                  <a16:creationId xmlns:a16="http://schemas.microsoft.com/office/drawing/2014/main" id="{44D77D44-B0C5-4AF0-6CFF-64155E2E7DE0}"/>
                </a:ext>
              </a:extLst>
            </p:cNvPr>
            <p:cNvSpPr/>
            <p:nvPr/>
          </p:nvSpPr>
          <p:spPr>
            <a:xfrm>
              <a:off x="1336460" y="305515"/>
              <a:ext cx="211420" cy="1182803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65">
                <a:solidFill>
                  <a:schemeClr val="lt1"/>
                </a:solidFill>
                <a:latin typeface="HeadLineA"/>
                <a:ea typeface="HeadLineA"/>
                <a:cs typeface="HeadLineA"/>
                <a:sym typeface="HeadLineA"/>
              </a:endParaRPr>
            </a:p>
          </p:txBody>
        </p:sp>
        <p:sp>
          <p:nvSpPr>
            <p:cNvPr id="20" name="Google Shape;3961;p51">
              <a:extLst>
                <a:ext uri="{FF2B5EF4-FFF2-40B4-BE49-F238E27FC236}">
                  <a16:creationId xmlns:a16="http://schemas.microsoft.com/office/drawing/2014/main" id="{0E92DAF8-777D-4ECA-7DF0-58F51677B4D8}"/>
                </a:ext>
              </a:extLst>
            </p:cNvPr>
            <p:cNvSpPr txBox="1"/>
            <p:nvPr/>
          </p:nvSpPr>
          <p:spPr>
            <a:xfrm>
              <a:off x="2230554" y="305516"/>
              <a:ext cx="396887" cy="12226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SOGIN1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AGND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AGND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AVDD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RIN3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RIN1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A33VDD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A33GND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BIN2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AVDD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NSUB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VSOUT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SOGOUT</a:t>
              </a:r>
              <a:endParaRPr dirty="0"/>
            </a:p>
          </p:txBody>
        </p:sp>
        <p:sp>
          <p:nvSpPr>
            <p:cNvPr id="21" name="Google Shape;3962;p51">
              <a:extLst>
                <a:ext uri="{FF2B5EF4-FFF2-40B4-BE49-F238E27FC236}">
                  <a16:creationId xmlns:a16="http://schemas.microsoft.com/office/drawing/2014/main" id="{AEE36321-62BF-BE29-D3A0-4AB7853D8504}"/>
                </a:ext>
              </a:extLst>
            </p:cNvPr>
            <p:cNvSpPr txBox="1"/>
            <p:nvPr/>
          </p:nvSpPr>
          <p:spPr>
            <a:xfrm>
              <a:off x="2005140" y="305515"/>
              <a:ext cx="396887" cy="12226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GIN1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AVDD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AVDD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AGND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RIN2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A33GND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A33VDD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BIN3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BIN1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AGND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FIDOUT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HSOUT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-</a:t>
              </a:r>
              <a:endParaRPr dirty="0"/>
            </a:p>
          </p:txBody>
        </p:sp>
        <p:grpSp>
          <p:nvGrpSpPr>
            <p:cNvPr id="22" name="Google Shape;3963;p51">
              <a:extLst>
                <a:ext uri="{FF2B5EF4-FFF2-40B4-BE49-F238E27FC236}">
                  <a16:creationId xmlns:a16="http://schemas.microsoft.com/office/drawing/2014/main" id="{948D4127-87B2-214C-8516-807FEE23A388}"/>
                </a:ext>
              </a:extLst>
            </p:cNvPr>
            <p:cNvGrpSpPr/>
            <p:nvPr/>
          </p:nvGrpSpPr>
          <p:grpSpPr>
            <a:xfrm>
              <a:off x="2502515" y="305515"/>
              <a:ext cx="341708" cy="1222602"/>
              <a:chOff x="5407550" y="3286488"/>
              <a:chExt cx="341708" cy="1222602"/>
            </a:xfrm>
          </p:grpSpPr>
          <p:sp>
            <p:nvSpPr>
              <p:cNvPr id="23" name="Google Shape;3964;p51">
                <a:extLst>
                  <a:ext uri="{FF2B5EF4-FFF2-40B4-BE49-F238E27FC236}">
                    <a16:creationId xmlns:a16="http://schemas.microsoft.com/office/drawing/2014/main" id="{588FFD45-4E57-80BE-80C5-C40B4C1C4D18}"/>
                  </a:ext>
                </a:extLst>
              </p:cNvPr>
              <p:cNvSpPr txBox="1"/>
              <p:nvPr/>
            </p:nvSpPr>
            <p:spPr>
              <a:xfrm>
                <a:off x="5506884" y="3286488"/>
                <a:ext cx="242374" cy="12226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1</a:t>
                </a:r>
                <a:endParaRPr dirty="0"/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3</a:t>
                </a:r>
                <a:endParaRPr dirty="0"/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5</a:t>
                </a:r>
                <a:endParaRPr dirty="0"/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7</a:t>
                </a:r>
                <a:endParaRPr dirty="0"/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9</a:t>
                </a:r>
                <a:endParaRPr dirty="0"/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11</a:t>
                </a:r>
                <a:endParaRPr dirty="0"/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13</a:t>
                </a:r>
                <a:endParaRPr dirty="0"/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15</a:t>
                </a:r>
                <a:endParaRPr dirty="0"/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17</a:t>
                </a:r>
                <a:endParaRPr dirty="0"/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19</a:t>
                </a:r>
                <a:endParaRPr dirty="0"/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21</a:t>
                </a:r>
                <a:endParaRPr dirty="0"/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23</a:t>
                </a:r>
                <a:endParaRPr dirty="0"/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25</a:t>
                </a:r>
                <a:endParaRPr dirty="0"/>
              </a:p>
            </p:txBody>
          </p:sp>
          <p:sp>
            <p:nvSpPr>
              <p:cNvPr id="24" name="Google Shape;3965;p51">
                <a:extLst>
                  <a:ext uri="{FF2B5EF4-FFF2-40B4-BE49-F238E27FC236}">
                    <a16:creationId xmlns:a16="http://schemas.microsoft.com/office/drawing/2014/main" id="{EE7498DE-1C6A-49DC-774D-5EAF4A49D30B}"/>
                  </a:ext>
                </a:extLst>
              </p:cNvPr>
              <p:cNvSpPr txBox="1"/>
              <p:nvPr/>
            </p:nvSpPr>
            <p:spPr>
              <a:xfrm>
                <a:off x="5407550" y="3286488"/>
                <a:ext cx="242374" cy="12226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2</a:t>
                </a:r>
                <a:endParaRPr dirty="0"/>
              </a:p>
              <a:p>
                <a:pPr marL="0"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4</a:t>
                </a:r>
                <a:endParaRPr dirty="0"/>
              </a:p>
              <a:p>
                <a:pPr marL="0"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6</a:t>
                </a:r>
                <a:endParaRPr dirty="0"/>
              </a:p>
              <a:p>
                <a:pPr marL="0"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8</a:t>
                </a:r>
                <a:endParaRPr dirty="0"/>
              </a:p>
              <a:p>
                <a:pPr marL="0"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10</a:t>
                </a:r>
                <a:endParaRPr dirty="0"/>
              </a:p>
              <a:p>
                <a:pPr marL="0"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12</a:t>
                </a:r>
                <a:endParaRPr dirty="0"/>
              </a:p>
              <a:p>
                <a:pPr marL="0"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14</a:t>
                </a:r>
                <a:endParaRPr dirty="0"/>
              </a:p>
              <a:p>
                <a:pPr marL="0"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16</a:t>
                </a:r>
                <a:endParaRPr dirty="0"/>
              </a:p>
              <a:p>
                <a:pPr marL="0"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18</a:t>
                </a:r>
                <a:endParaRPr dirty="0"/>
              </a:p>
              <a:p>
                <a:pPr marL="0"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20</a:t>
                </a:r>
                <a:endParaRPr dirty="0"/>
              </a:p>
              <a:p>
                <a:pPr marL="0"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22</a:t>
                </a:r>
                <a:endParaRPr dirty="0"/>
              </a:p>
              <a:p>
                <a:pPr marL="0"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24</a:t>
                </a:r>
                <a:b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</a:b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-</a:t>
                </a:r>
              </a:p>
            </p:txBody>
          </p:sp>
          <p:sp>
            <p:nvSpPr>
              <p:cNvPr id="25" name="Google Shape;3966;p51">
                <a:extLst>
                  <a:ext uri="{FF2B5EF4-FFF2-40B4-BE49-F238E27FC236}">
                    <a16:creationId xmlns:a16="http://schemas.microsoft.com/office/drawing/2014/main" id="{3D25ADCB-4E44-ED1F-65DA-8B070D7A594B}"/>
                  </a:ext>
                </a:extLst>
              </p:cNvPr>
              <p:cNvSpPr/>
              <p:nvPr/>
            </p:nvSpPr>
            <p:spPr>
              <a:xfrm>
                <a:off x="5466802" y="3291340"/>
                <a:ext cx="211420" cy="1182803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65">
                  <a:solidFill>
                    <a:schemeClr val="lt1"/>
                  </a:solidFill>
                  <a:latin typeface="HeadLineA"/>
                  <a:ea typeface="HeadLineA"/>
                  <a:cs typeface="HeadLineA"/>
                  <a:sym typeface="HeadLineA"/>
                </a:endParaRPr>
              </a:p>
            </p:txBody>
          </p:sp>
        </p:grpSp>
        <p:sp>
          <p:nvSpPr>
            <p:cNvPr id="38" name="Google Shape;3961;p51">
              <a:extLst>
                <a:ext uri="{FF2B5EF4-FFF2-40B4-BE49-F238E27FC236}">
                  <a16:creationId xmlns:a16="http://schemas.microsoft.com/office/drawing/2014/main" id="{459272F3-0E44-002E-8F66-256BB2F1842C}"/>
                </a:ext>
              </a:extLst>
            </p:cNvPr>
            <p:cNvSpPr txBox="1"/>
            <p:nvPr/>
          </p:nvSpPr>
          <p:spPr>
            <a:xfrm>
              <a:off x="1482064" y="300664"/>
              <a:ext cx="396887" cy="12226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SDA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I2CA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RESETB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DVDD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IOGND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R0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R2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R4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R5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R7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R9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IOVDD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G1</a:t>
              </a:r>
              <a:endParaRPr dirty="0"/>
            </a:p>
          </p:txBody>
        </p:sp>
        <p:sp>
          <p:nvSpPr>
            <p:cNvPr id="39" name="Google Shape;3962;p51">
              <a:extLst>
                <a:ext uri="{FF2B5EF4-FFF2-40B4-BE49-F238E27FC236}">
                  <a16:creationId xmlns:a16="http://schemas.microsoft.com/office/drawing/2014/main" id="{4C5A7320-90A3-C9E3-EAC8-76C55E45CBCA}"/>
                </a:ext>
              </a:extLst>
            </p:cNvPr>
            <p:cNvSpPr txBox="1"/>
            <p:nvPr/>
          </p:nvSpPr>
          <p:spPr>
            <a:xfrm>
              <a:off x="1698140" y="300663"/>
              <a:ext cx="396887" cy="12226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-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SCL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TMS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PWDN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GND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IOVDD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R1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R3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IOGND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R6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R8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IOGND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G0</a:t>
              </a:r>
              <a:endParaRPr dirty="0"/>
            </a:p>
          </p:txBody>
        </p:sp>
        <p:sp>
          <p:nvSpPr>
            <p:cNvPr id="41" name="Google Shape;3964;p51">
              <a:extLst>
                <a:ext uri="{FF2B5EF4-FFF2-40B4-BE49-F238E27FC236}">
                  <a16:creationId xmlns:a16="http://schemas.microsoft.com/office/drawing/2014/main" id="{C6AF37A8-71DA-539D-6A43-1E8CD89FAA81}"/>
                </a:ext>
              </a:extLst>
            </p:cNvPr>
            <p:cNvSpPr txBox="1"/>
            <p:nvPr/>
          </p:nvSpPr>
          <p:spPr>
            <a:xfrm>
              <a:off x="1269615" y="296997"/>
              <a:ext cx="242374" cy="12226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75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73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71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69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67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65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63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61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59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57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55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53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51</a:t>
              </a:r>
              <a:endParaRPr dirty="0"/>
            </a:p>
          </p:txBody>
        </p:sp>
        <p:sp>
          <p:nvSpPr>
            <p:cNvPr id="42" name="Google Shape;3965;p51">
              <a:extLst>
                <a:ext uri="{FF2B5EF4-FFF2-40B4-BE49-F238E27FC236}">
                  <a16:creationId xmlns:a16="http://schemas.microsoft.com/office/drawing/2014/main" id="{D875A4D2-EAC3-4F30-3B05-923B9EFDCC2A}"/>
                </a:ext>
              </a:extLst>
            </p:cNvPr>
            <p:cNvSpPr txBox="1"/>
            <p:nvPr/>
          </p:nvSpPr>
          <p:spPr>
            <a:xfrm>
              <a:off x="1371303" y="296997"/>
              <a:ext cx="242374" cy="12226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-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74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72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70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6866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64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62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60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58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56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54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52</a:t>
              </a:r>
            </a:p>
          </p:txBody>
        </p:sp>
      </p:grpSp>
      <p:sp>
        <p:nvSpPr>
          <p:cNvPr id="48" name="Google Shape;3961;p51">
            <a:extLst>
              <a:ext uri="{FF2B5EF4-FFF2-40B4-BE49-F238E27FC236}">
                <a16:creationId xmlns:a16="http://schemas.microsoft.com/office/drawing/2014/main" id="{A4A8455E-660A-87DE-1074-3B7F21C50DD7}"/>
              </a:ext>
            </a:extLst>
          </p:cNvPr>
          <p:cNvSpPr txBox="1"/>
          <p:nvPr/>
        </p:nvSpPr>
        <p:spPr>
          <a:xfrm>
            <a:off x="2180913" y="2933613"/>
            <a:ext cx="417728" cy="1222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GIN2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GIN3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GIN4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A33VDD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A33GND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PLLAG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FILT2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PLLAGND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PLLAVDD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HSYNCB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EXTCLK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VSYNCA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CLAMP</a:t>
            </a:r>
            <a:endParaRPr dirty="0"/>
          </a:p>
        </p:txBody>
      </p:sp>
      <p:sp>
        <p:nvSpPr>
          <p:cNvPr id="49" name="Google Shape;3962;p51">
            <a:extLst>
              <a:ext uri="{FF2B5EF4-FFF2-40B4-BE49-F238E27FC236}">
                <a16:creationId xmlns:a16="http://schemas.microsoft.com/office/drawing/2014/main" id="{E6CD08F8-2F1F-DF2A-2951-A5E87BAC703F}"/>
              </a:ext>
            </a:extLst>
          </p:cNvPr>
          <p:cNvSpPr txBox="1"/>
          <p:nvPr/>
        </p:nvSpPr>
        <p:spPr>
          <a:xfrm>
            <a:off x="1851026" y="2933612"/>
            <a:ext cx="458136" cy="1412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SOGIN2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SOGIN3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A33GND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A33VDD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NSUB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PLLF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FILT1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PLLAVDD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PLLAGND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HSYNCA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VSYNCB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COAST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" name="Google Shape;3964;p51">
            <a:extLst>
              <a:ext uri="{FF2B5EF4-FFF2-40B4-BE49-F238E27FC236}">
                <a16:creationId xmlns:a16="http://schemas.microsoft.com/office/drawing/2014/main" id="{812F878F-3FD2-DE3C-7013-B06110AC270C}"/>
              </a:ext>
            </a:extLst>
          </p:cNvPr>
          <p:cNvSpPr txBox="1"/>
          <p:nvPr/>
        </p:nvSpPr>
        <p:spPr>
          <a:xfrm>
            <a:off x="2563715" y="2930404"/>
            <a:ext cx="284259" cy="1499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100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98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96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94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92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90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88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86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84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82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80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78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76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" name="Google Shape;3965;p51">
            <a:extLst>
              <a:ext uri="{FF2B5EF4-FFF2-40B4-BE49-F238E27FC236}">
                <a16:creationId xmlns:a16="http://schemas.microsoft.com/office/drawing/2014/main" id="{5A3E5435-4209-BA91-4D5F-005CBC989882}"/>
              </a:ext>
            </a:extLst>
          </p:cNvPr>
          <p:cNvSpPr txBox="1"/>
          <p:nvPr/>
        </p:nvSpPr>
        <p:spPr>
          <a:xfrm>
            <a:off x="2486574" y="2933612"/>
            <a:ext cx="242374" cy="1222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99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97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95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93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91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89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87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85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83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81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79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77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-</a:t>
            </a:r>
          </a:p>
        </p:txBody>
      </p:sp>
      <p:sp>
        <p:nvSpPr>
          <p:cNvPr id="53" name="Google Shape;3966;p51">
            <a:extLst>
              <a:ext uri="{FF2B5EF4-FFF2-40B4-BE49-F238E27FC236}">
                <a16:creationId xmlns:a16="http://schemas.microsoft.com/office/drawing/2014/main" id="{263710F7-A715-E596-D7CC-5C307F2A8C39}"/>
              </a:ext>
            </a:extLst>
          </p:cNvPr>
          <p:cNvSpPr/>
          <p:nvPr/>
        </p:nvSpPr>
        <p:spPr>
          <a:xfrm>
            <a:off x="2555351" y="2938464"/>
            <a:ext cx="211420" cy="118280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65">
              <a:solidFill>
                <a:schemeClr val="lt1"/>
              </a:solidFill>
              <a:latin typeface="HeadLineA"/>
              <a:ea typeface="HeadLineA"/>
              <a:cs typeface="HeadLineA"/>
              <a:sym typeface="HeadLineA"/>
            </a:endParaRPr>
          </a:p>
        </p:txBody>
      </p:sp>
      <p:sp>
        <p:nvSpPr>
          <p:cNvPr id="58" name="Google Shape;3961;p51">
            <a:extLst>
              <a:ext uri="{FF2B5EF4-FFF2-40B4-BE49-F238E27FC236}">
                <a16:creationId xmlns:a16="http://schemas.microsoft.com/office/drawing/2014/main" id="{CA0D782E-139B-965C-36FF-B3DE2C9A22C6}"/>
              </a:ext>
            </a:extLst>
          </p:cNvPr>
          <p:cNvSpPr txBox="1"/>
          <p:nvPr/>
        </p:nvSpPr>
        <p:spPr>
          <a:xfrm>
            <a:off x="4572000" y="2799007"/>
            <a:ext cx="396887" cy="139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G20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K20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L20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N18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3V3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P18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U18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M17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R17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T18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K18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3V3</a:t>
            </a:r>
            <a:endParaRPr dirty="0"/>
          </a:p>
        </p:txBody>
      </p:sp>
      <p:sp>
        <p:nvSpPr>
          <p:cNvPr id="59" name="Google Shape;3962;p51">
            <a:extLst>
              <a:ext uri="{FF2B5EF4-FFF2-40B4-BE49-F238E27FC236}">
                <a16:creationId xmlns:a16="http://schemas.microsoft.com/office/drawing/2014/main" id="{34ABE9CB-A93D-BEDB-F190-DF4FAA0C873B}"/>
              </a:ext>
            </a:extLst>
          </p:cNvPr>
          <p:cNvSpPr txBox="1"/>
          <p:nvPr/>
        </p:nvSpPr>
        <p:spPr>
          <a:xfrm>
            <a:off x="4414418" y="2799007"/>
            <a:ext cx="396887" cy="139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J20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L18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M18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N17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3V3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U17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5V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T17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P17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R18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C18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U16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3V3</a:t>
            </a:r>
            <a:endParaRPr dirty="0"/>
          </a:p>
        </p:txBody>
      </p:sp>
      <p:grpSp>
        <p:nvGrpSpPr>
          <p:cNvPr id="60" name="Google Shape;3963;p51">
            <a:extLst>
              <a:ext uri="{FF2B5EF4-FFF2-40B4-BE49-F238E27FC236}">
                <a16:creationId xmlns:a16="http://schemas.microsoft.com/office/drawing/2014/main" id="{E7F629BB-5D5A-AAA8-CBDB-646506F2EE28}"/>
              </a:ext>
            </a:extLst>
          </p:cNvPr>
          <p:cNvGrpSpPr/>
          <p:nvPr/>
        </p:nvGrpSpPr>
        <p:grpSpPr>
          <a:xfrm>
            <a:off x="4201578" y="2794195"/>
            <a:ext cx="344916" cy="1396496"/>
            <a:chOff x="5407550" y="3284884"/>
            <a:chExt cx="344916" cy="1396496"/>
          </a:xfrm>
        </p:grpSpPr>
        <p:sp>
          <p:nvSpPr>
            <p:cNvPr id="61" name="Google Shape;3964;p51">
              <a:extLst>
                <a:ext uri="{FF2B5EF4-FFF2-40B4-BE49-F238E27FC236}">
                  <a16:creationId xmlns:a16="http://schemas.microsoft.com/office/drawing/2014/main" id="{DCD24D23-43F3-6374-08F2-7B933942940A}"/>
                </a:ext>
              </a:extLst>
            </p:cNvPr>
            <p:cNvSpPr txBox="1"/>
            <p:nvPr/>
          </p:nvSpPr>
          <p:spPr>
            <a:xfrm>
              <a:off x="5510092" y="3284884"/>
              <a:ext cx="242374" cy="1396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29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27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25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23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21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19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17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15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13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11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9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7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5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</a:t>
              </a:r>
            </a:p>
          </p:txBody>
        </p:sp>
        <p:sp>
          <p:nvSpPr>
            <p:cNvPr id="62" name="Google Shape;3965;p51">
              <a:extLst>
                <a:ext uri="{FF2B5EF4-FFF2-40B4-BE49-F238E27FC236}">
                  <a16:creationId xmlns:a16="http://schemas.microsoft.com/office/drawing/2014/main" id="{A1869EF0-05E3-D791-0B17-122E29312FB0}"/>
                </a:ext>
              </a:extLst>
            </p:cNvPr>
            <p:cNvSpPr txBox="1"/>
            <p:nvPr/>
          </p:nvSpPr>
          <p:spPr>
            <a:xfrm>
              <a:off x="5407550" y="3284884"/>
              <a:ext cx="242374" cy="1396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30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28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26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24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22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20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18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16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14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12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10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8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6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4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</a:t>
              </a:r>
              <a:endPara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endParaRPr>
            </a:p>
          </p:txBody>
        </p:sp>
        <p:sp>
          <p:nvSpPr>
            <p:cNvPr id="63" name="Google Shape;3966;p51">
              <a:extLst>
                <a:ext uri="{FF2B5EF4-FFF2-40B4-BE49-F238E27FC236}">
                  <a16:creationId xmlns:a16="http://schemas.microsoft.com/office/drawing/2014/main" id="{875A264E-E34E-F7E7-76DB-0197939B87DA}"/>
                </a:ext>
              </a:extLst>
            </p:cNvPr>
            <p:cNvSpPr/>
            <p:nvPr/>
          </p:nvSpPr>
          <p:spPr>
            <a:xfrm>
              <a:off x="5466802" y="3319921"/>
              <a:ext cx="211420" cy="131445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65">
                <a:solidFill>
                  <a:schemeClr val="lt1"/>
                </a:solidFill>
                <a:latin typeface="HeadLineA"/>
                <a:ea typeface="HeadLineA"/>
                <a:cs typeface="HeadLineA"/>
                <a:sym typeface="HeadLineA"/>
              </a:endParaRPr>
            </a:p>
          </p:txBody>
        </p:sp>
      </p:grpSp>
      <p:sp>
        <p:nvSpPr>
          <p:cNvPr id="65" name="Google Shape;3962;p51">
            <a:extLst>
              <a:ext uri="{FF2B5EF4-FFF2-40B4-BE49-F238E27FC236}">
                <a16:creationId xmlns:a16="http://schemas.microsoft.com/office/drawing/2014/main" id="{31593072-14D8-1997-FBA8-1D3D0803EAEB}"/>
              </a:ext>
            </a:extLst>
          </p:cNvPr>
          <p:cNvSpPr txBox="1"/>
          <p:nvPr/>
        </p:nvSpPr>
        <p:spPr>
          <a:xfrm>
            <a:off x="4414418" y="1488318"/>
            <a:ext cx="396887" cy="139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D1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C1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C2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E3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3V3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B4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5V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D3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C17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B18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B20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F20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3V3</a:t>
            </a:r>
            <a:endParaRPr dirty="0"/>
          </a:p>
        </p:txBody>
      </p:sp>
      <p:grpSp>
        <p:nvGrpSpPr>
          <p:cNvPr id="66" name="Google Shape;3963;p51">
            <a:extLst>
              <a:ext uri="{FF2B5EF4-FFF2-40B4-BE49-F238E27FC236}">
                <a16:creationId xmlns:a16="http://schemas.microsoft.com/office/drawing/2014/main" id="{53441281-6BA9-4D4B-5F5E-C0E7A3926926}"/>
              </a:ext>
            </a:extLst>
          </p:cNvPr>
          <p:cNvGrpSpPr/>
          <p:nvPr/>
        </p:nvGrpSpPr>
        <p:grpSpPr>
          <a:xfrm>
            <a:off x="4201578" y="1483506"/>
            <a:ext cx="344916" cy="1396496"/>
            <a:chOff x="5407550" y="3284884"/>
            <a:chExt cx="344916" cy="1396496"/>
          </a:xfrm>
        </p:grpSpPr>
        <p:sp>
          <p:nvSpPr>
            <p:cNvPr id="67" name="Google Shape;3964;p51">
              <a:extLst>
                <a:ext uri="{FF2B5EF4-FFF2-40B4-BE49-F238E27FC236}">
                  <a16:creationId xmlns:a16="http://schemas.microsoft.com/office/drawing/2014/main" id="{1D780E52-0EB8-DC74-79C1-6AC5A6A15CCE}"/>
                </a:ext>
              </a:extLst>
            </p:cNvPr>
            <p:cNvSpPr txBox="1"/>
            <p:nvPr/>
          </p:nvSpPr>
          <p:spPr>
            <a:xfrm>
              <a:off x="5510092" y="3284884"/>
              <a:ext cx="242374" cy="1396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29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27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25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23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21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19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17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15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13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11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9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7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5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</a:t>
              </a:r>
            </a:p>
          </p:txBody>
        </p:sp>
        <p:sp>
          <p:nvSpPr>
            <p:cNvPr id="68" name="Google Shape;3965;p51">
              <a:extLst>
                <a:ext uri="{FF2B5EF4-FFF2-40B4-BE49-F238E27FC236}">
                  <a16:creationId xmlns:a16="http://schemas.microsoft.com/office/drawing/2014/main" id="{9D031FEB-10F6-B6BD-6C22-13876CA99E83}"/>
                </a:ext>
              </a:extLst>
            </p:cNvPr>
            <p:cNvSpPr txBox="1"/>
            <p:nvPr/>
          </p:nvSpPr>
          <p:spPr>
            <a:xfrm>
              <a:off x="5407550" y="3284884"/>
              <a:ext cx="242374" cy="1396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30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28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26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24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22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20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18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16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14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12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10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8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6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4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</a:t>
              </a:r>
              <a:endPara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endParaRPr>
            </a:p>
          </p:txBody>
        </p:sp>
        <p:sp>
          <p:nvSpPr>
            <p:cNvPr id="69" name="Google Shape;3966;p51">
              <a:extLst>
                <a:ext uri="{FF2B5EF4-FFF2-40B4-BE49-F238E27FC236}">
                  <a16:creationId xmlns:a16="http://schemas.microsoft.com/office/drawing/2014/main" id="{B1B01671-7890-F715-B9ED-9D019A8D2CCA}"/>
                </a:ext>
              </a:extLst>
            </p:cNvPr>
            <p:cNvSpPr/>
            <p:nvPr/>
          </p:nvSpPr>
          <p:spPr>
            <a:xfrm>
              <a:off x="5466802" y="3319921"/>
              <a:ext cx="211420" cy="131445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65">
                <a:solidFill>
                  <a:schemeClr val="lt1"/>
                </a:solidFill>
                <a:latin typeface="HeadLineA"/>
                <a:ea typeface="HeadLineA"/>
                <a:cs typeface="HeadLineA"/>
                <a:sym typeface="HeadLineA"/>
              </a:endParaRPr>
            </a:p>
          </p:txBody>
        </p:sp>
      </p:grpSp>
      <p:sp>
        <p:nvSpPr>
          <p:cNvPr id="64" name="Google Shape;3961;p51">
            <a:extLst>
              <a:ext uri="{FF2B5EF4-FFF2-40B4-BE49-F238E27FC236}">
                <a16:creationId xmlns:a16="http://schemas.microsoft.com/office/drawing/2014/main" id="{11FAC6F7-8484-4192-DC11-DBC37943BF58}"/>
              </a:ext>
            </a:extLst>
          </p:cNvPr>
          <p:cNvSpPr txBox="1"/>
          <p:nvPr/>
        </p:nvSpPr>
        <p:spPr>
          <a:xfrm>
            <a:off x="4572000" y="1488318"/>
            <a:ext cx="396887" cy="139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E2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D2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B1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A3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3V3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C3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C4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A18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A19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B19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D20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3V3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2365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17737-B40C-7C0C-E471-B09FDACFB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74F3121-A602-E211-2B74-2A0D83D5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(c) 2026. Kunihiko Ohnaka. All rights reserved.</a:t>
            </a:r>
            <a:endParaRPr kumimoji="1" lang="ja-JP" altLang="en-US"/>
          </a:p>
        </p:txBody>
      </p:sp>
      <p:sp>
        <p:nvSpPr>
          <p:cNvPr id="20" name="Google Shape;3961;p51">
            <a:extLst>
              <a:ext uri="{FF2B5EF4-FFF2-40B4-BE49-F238E27FC236}">
                <a16:creationId xmlns:a16="http://schemas.microsoft.com/office/drawing/2014/main" id="{7F0CF3EC-FC51-CA48-C51F-A9EE8F1266F9}"/>
              </a:ext>
            </a:extLst>
          </p:cNvPr>
          <p:cNvSpPr txBox="1"/>
          <p:nvPr/>
        </p:nvSpPr>
        <p:spPr>
          <a:xfrm rot="16200000">
            <a:off x="1146589" y="17741"/>
            <a:ext cx="396887" cy="1222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SOGIN1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AGND</a:t>
            </a:r>
            <a:endParaRPr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AGND</a:t>
            </a:r>
            <a:endParaRPr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AVDD</a:t>
            </a:r>
            <a:endParaRPr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RIN3</a:t>
            </a:r>
            <a:endParaRPr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RIN1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A33VDD</a:t>
            </a:r>
            <a:endParaRPr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A33GND</a:t>
            </a:r>
            <a:endParaRPr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BIN2</a:t>
            </a:r>
            <a:endParaRPr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AVDD</a:t>
            </a:r>
            <a:endParaRPr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NSUB</a:t>
            </a:r>
            <a:endParaRPr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VSOUT</a:t>
            </a:r>
            <a:endParaRPr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SOGOUT</a:t>
            </a:r>
            <a:endParaRPr dirty="0"/>
          </a:p>
        </p:txBody>
      </p:sp>
      <p:sp>
        <p:nvSpPr>
          <p:cNvPr id="21" name="Google Shape;3962;p51">
            <a:extLst>
              <a:ext uri="{FF2B5EF4-FFF2-40B4-BE49-F238E27FC236}">
                <a16:creationId xmlns:a16="http://schemas.microsoft.com/office/drawing/2014/main" id="{F0BC5D1D-720E-0160-53CE-4345F672BA97}"/>
              </a:ext>
            </a:extLst>
          </p:cNvPr>
          <p:cNvSpPr txBox="1"/>
          <p:nvPr/>
        </p:nvSpPr>
        <p:spPr>
          <a:xfrm rot="16200000">
            <a:off x="1146588" y="243155"/>
            <a:ext cx="396887" cy="1222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GIN1</a:t>
            </a:r>
            <a:endParaRPr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AVDD</a:t>
            </a:r>
            <a:endParaRPr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AVDD</a:t>
            </a:r>
            <a:endParaRPr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AGND</a:t>
            </a:r>
            <a:endParaRPr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RIN2</a:t>
            </a:r>
            <a:endParaRPr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A33GND</a:t>
            </a:r>
            <a:endParaRPr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A33VDD</a:t>
            </a:r>
            <a:endParaRPr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BIN3</a:t>
            </a:r>
            <a:endParaRPr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BIN1</a:t>
            </a:r>
            <a:endParaRPr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AGND</a:t>
            </a:r>
            <a:endParaRPr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FIDOUT</a:t>
            </a:r>
            <a:endParaRPr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HSOUT</a:t>
            </a:r>
            <a:endParaRPr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-</a:t>
            </a:r>
            <a:endParaRPr dirty="0"/>
          </a:p>
        </p:txBody>
      </p:sp>
      <p:grpSp>
        <p:nvGrpSpPr>
          <p:cNvPr id="22" name="Google Shape;3963;p51">
            <a:extLst>
              <a:ext uri="{FF2B5EF4-FFF2-40B4-BE49-F238E27FC236}">
                <a16:creationId xmlns:a16="http://schemas.microsoft.com/office/drawing/2014/main" id="{CB1B1E60-391F-E835-9B85-E2647C632F5E}"/>
              </a:ext>
            </a:extLst>
          </p:cNvPr>
          <p:cNvGrpSpPr/>
          <p:nvPr/>
        </p:nvGrpSpPr>
        <p:grpSpPr>
          <a:xfrm rot="16200000">
            <a:off x="1174176" y="475571"/>
            <a:ext cx="341708" cy="1222602"/>
            <a:chOff x="5407550" y="3286488"/>
            <a:chExt cx="341708" cy="1222602"/>
          </a:xfrm>
        </p:grpSpPr>
        <p:sp>
          <p:nvSpPr>
            <p:cNvPr id="23" name="Google Shape;3964;p51">
              <a:extLst>
                <a:ext uri="{FF2B5EF4-FFF2-40B4-BE49-F238E27FC236}">
                  <a16:creationId xmlns:a16="http://schemas.microsoft.com/office/drawing/2014/main" id="{F350CFD6-B7F4-9EF2-888F-F1BA8E42509F}"/>
                </a:ext>
              </a:extLst>
            </p:cNvPr>
            <p:cNvSpPr txBox="1"/>
            <p:nvPr/>
          </p:nvSpPr>
          <p:spPr>
            <a:xfrm>
              <a:off x="5506884" y="3286488"/>
              <a:ext cx="242374" cy="12226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1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3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5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7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9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11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13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15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17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19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21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23</a:t>
              </a:r>
              <a:endParaRPr dirty="0"/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25</a:t>
              </a:r>
              <a:endParaRPr dirty="0"/>
            </a:p>
          </p:txBody>
        </p:sp>
        <p:sp>
          <p:nvSpPr>
            <p:cNvPr id="24" name="Google Shape;3965;p51">
              <a:extLst>
                <a:ext uri="{FF2B5EF4-FFF2-40B4-BE49-F238E27FC236}">
                  <a16:creationId xmlns:a16="http://schemas.microsoft.com/office/drawing/2014/main" id="{EADDBDBD-440D-FCC7-C08A-3F9727EE00F3}"/>
                </a:ext>
              </a:extLst>
            </p:cNvPr>
            <p:cNvSpPr txBox="1"/>
            <p:nvPr/>
          </p:nvSpPr>
          <p:spPr>
            <a:xfrm>
              <a:off x="5407550" y="3286488"/>
              <a:ext cx="242374" cy="12226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2</a:t>
              </a:r>
              <a:endParaRPr dirty="0"/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4</a:t>
              </a:r>
              <a:endParaRPr dirty="0"/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6</a:t>
              </a:r>
              <a:endParaRPr dirty="0"/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8</a:t>
              </a:r>
              <a:endParaRPr dirty="0"/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10</a:t>
              </a:r>
              <a:endParaRPr dirty="0"/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12</a:t>
              </a:r>
              <a:endParaRPr dirty="0"/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14</a:t>
              </a:r>
              <a:endParaRPr dirty="0"/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16</a:t>
              </a:r>
              <a:endParaRPr dirty="0"/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18</a:t>
              </a:r>
              <a:endParaRPr dirty="0"/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20</a:t>
              </a:r>
              <a:endParaRPr dirty="0"/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22</a:t>
              </a:r>
              <a:endParaRPr dirty="0"/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24</a:t>
              </a:r>
              <a:b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</a:b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-</a:t>
              </a:r>
            </a:p>
          </p:txBody>
        </p:sp>
        <p:sp>
          <p:nvSpPr>
            <p:cNvPr id="25" name="Google Shape;3966;p51">
              <a:extLst>
                <a:ext uri="{FF2B5EF4-FFF2-40B4-BE49-F238E27FC236}">
                  <a16:creationId xmlns:a16="http://schemas.microsoft.com/office/drawing/2014/main" id="{7A4EBA6B-7FF7-2FE8-8801-8DF857A7DD1D}"/>
                </a:ext>
              </a:extLst>
            </p:cNvPr>
            <p:cNvSpPr/>
            <p:nvPr/>
          </p:nvSpPr>
          <p:spPr>
            <a:xfrm>
              <a:off x="5466802" y="3291340"/>
              <a:ext cx="211420" cy="1182803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65">
                <a:solidFill>
                  <a:schemeClr val="lt1"/>
                </a:solidFill>
                <a:latin typeface="HeadLineA"/>
                <a:ea typeface="HeadLineA"/>
                <a:cs typeface="HeadLineA"/>
                <a:sym typeface="HeadLineA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C1740559-2B5B-4437-9C6C-3FC722ED7F16}"/>
              </a:ext>
            </a:extLst>
          </p:cNvPr>
          <p:cNvGrpSpPr/>
          <p:nvPr/>
        </p:nvGrpSpPr>
        <p:grpSpPr>
          <a:xfrm rot="16200000">
            <a:off x="908064" y="2106839"/>
            <a:ext cx="797747" cy="1226269"/>
            <a:chOff x="1114443" y="342153"/>
            <a:chExt cx="797747" cy="1226269"/>
          </a:xfrm>
        </p:grpSpPr>
        <p:sp>
          <p:nvSpPr>
            <p:cNvPr id="38" name="Google Shape;3961;p51">
              <a:extLst>
                <a:ext uri="{FF2B5EF4-FFF2-40B4-BE49-F238E27FC236}">
                  <a16:creationId xmlns:a16="http://schemas.microsoft.com/office/drawing/2014/main" id="{53108683-A2DD-2CF6-79C3-7C2F36BC5486}"/>
                </a:ext>
              </a:extLst>
            </p:cNvPr>
            <p:cNvSpPr txBox="1"/>
            <p:nvPr/>
          </p:nvSpPr>
          <p:spPr>
            <a:xfrm>
              <a:off x="1114443" y="345820"/>
              <a:ext cx="396887" cy="12226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SDA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I2CA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RESETB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DVDD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IOGND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R0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R2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R4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R5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R7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R9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IOVDD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G1</a:t>
              </a:r>
              <a:endParaRPr dirty="0"/>
            </a:p>
          </p:txBody>
        </p:sp>
        <p:sp>
          <p:nvSpPr>
            <p:cNvPr id="39" name="Google Shape;3962;p51">
              <a:extLst>
                <a:ext uri="{FF2B5EF4-FFF2-40B4-BE49-F238E27FC236}">
                  <a16:creationId xmlns:a16="http://schemas.microsoft.com/office/drawing/2014/main" id="{0D6F9492-A499-C490-A47F-550965D32FAB}"/>
                </a:ext>
              </a:extLst>
            </p:cNvPr>
            <p:cNvSpPr txBox="1"/>
            <p:nvPr/>
          </p:nvSpPr>
          <p:spPr>
            <a:xfrm>
              <a:off x="1330519" y="345819"/>
              <a:ext cx="396887" cy="12226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-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SCL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TMS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PWDN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GND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IOVDD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R1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R3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IOGND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R6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R8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IOGND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G0</a:t>
              </a:r>
              <a:endParaRPr dirty="0"/>
            </a:p>
          </p:txBody>
        </p: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98B58076-0AA3-A514-D554-3CA77EA9EC6D}"/>
                </a:ext>
              </a:extLst>
            </p:cNvPr>
            <p:cNvGrpSpPr/>
            <p:nvPr/>
          </p:nvGrpSpPr>
          <p:grpSpPr>
            <a:xfrm>
              <a:off x="1568128" y="342153"/>
              <a:ext cx="344062" cy="1222602"/>
              <a:chOff x="901994" y="342153"/>
              <a:chExt cx="344062" cy="1222602"/>
            </a:xfrm>
          </p:grpSpPr>
          <p:sp>
            <p:nvSpPr>
              <p:cNvPr id="43" name="Google Shape;3966;p51">
                <a:extLst>
                  <a:ext uri="{FF2B5EF4-FFF2-40B4-BE49-F238E27FC236}">
                    <a16:creationId xmlns:a16="http://schemas.microsoft.com/office/drawing/2014/main" id="{26460D9A-1973-0C9E-6F48-EA7F1D79BD12}"/>
                  </a:ext>
                </a:extLst>
              </p:cNvPr>
              <p:cNvSpPr/>
              <p:nvPr/>
            </p:nvSpPr>
            <p:spPr>
              <a:xfrm>
                <a:off x="968839" y="350671"/>
                <a:ext cx="211420" cy="1182803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65">
                  <a:solidFill>
                    <a:schemeClr val="lt1"/>
                  </a:solidFill>
                  <a:latin typeface="HeadLineA"/>
                  <a:ea typeface="HeadLineA"/>
                  <a:cs typeface="HeadLineA"/>
                  <a:sym typeface="HeadLineA"/>
                </a:endParaRPr>
              </a:p>
            </p:txBody>
          </p:sp>
          <p:sp>
            <p:nvSpPr>
              <p:cNvPr id="41" name="Google Shape;3964;p51">
                <a:extLst>
                  <a:ext uri="{FF2B5EF4-FFF2-40B4-BE49-F238E27FC236}">
                    <a16:creationId xmlns:a16="http://schemas.microsoft.com/office/drawing/2014/main" id="{B86D8E3A-635B-AEA5-BF95-608BCF0CF7DC}"/>
                  </a:ext>
                </a:extLst>
              </p:cNvPr>
              <p:cNvSpPr txBox="1"/>
              <p:nvPr/>
            </p:nvSpPr>
            <p:spPr>
              <a:xfrm>
                <a:off x="901994" y="342153"/>
                <a:ext cx="242374" cy="12226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sym typeface="HeadLineA"/>
                  </a:rPr>
                  <a:t>75</a:t>
                </a: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sym typeface="HeadLineA"/>
                  </a:rPr>
                  <a:t>73</a:t>
                </a: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sym typeface="HeadLineA"/>
                  </a:rPr>
                  <a:t>71</a:t>
                </a: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sym typeface="HeadLineA"/>
                  </a:rPr>
                  <a:t>69</a:t>
                </a: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sym typeface="HeadLineA"/>
                  </a:rPr>
                  <a:t>67</a:t>
                </a: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sym typeface="HeadLineA"/>
                  </a:rPr>
                  <a:t>65</a:t>
                </a: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sym typeface="HeadLineA"/>
                  </a:rPr>
                  <a:t>63</a:t>
                </a: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sym typeface="HeadLineA"/>
                  </a:rPr>
                  <a:t>61</a:t>
                </a: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sym typeface="HeadLineA"/>
                  </a:rPr>
                  <a:t>59</a:t>
                </a: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sym typeface="HeadLineA"/>
                  </a:rPr>
                  <a:t>57</a:t>
                </a: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sym typeface="HeadLineA"/>
                  </a:rPr>
                  <a:t>55</a:t>
                </a: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sym typeface="HeadLineA"/>
                  </a:rPr>
                  <a:t>53</a:t>
                </a: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sym typeface="HeadLineA"/>
                  </a:rPr>
                  <a:t>51</a:t>
                </a:r>
                <a:endParaRPr dirty="0"/>
              </a:p>
            </p:txBody>
          </p:sp>
          <p:sp>
            <p:nvSpPr>
              <p:cNvPr id="42" name="Google Shape;3965;p51">
                <a:extLst>
                  <a:ext uri="{FF2B5EF4-FFF2-40B4-BE49-F238E27FC236}">
                    <a16:creationId xmlns:a16="http://schemas.microsoft.com/office/drawing/2014/main" id="{79DCC833-2BA9-7D89-825C-F451BC435493}"/>
                  </a:ext>
                </a:extLst>
              </p:cNvPr>
              <p:cNvSpPr txBox="1"/>
              <p:nvPr/>
            </p:nvSpPr>
            <p:spPr>
              <a:xfrm>
                <a:off x="1003682" y="342153"/>
                <a:ext cx="242374" cy="12226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-</a:t>
                </a:r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74</a:t>
                </a:r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72</a:t>
                </a:r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70</a:t>
                </a:r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6866</a:t>
                </a:r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64</a:t>
                </a:r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62</a:t>
                </a:r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60</a:t>
                </a:r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58</a:t>
                </a:r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56</a:t>
                </a:r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54</a:t>
                </a:r>
              </a:p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5" dirty="0">
                    <a:solidFill>
                      <a:schemeClr val="dk1"/>
                    </a:solidFill>
                    <a:latin typeface="HeadLineA"/>
                    <a:ea typeface="HeadLineA"/>
                    <a:cs typeface="HeadLineA"/>
                    <a:sym typeface="HeadLineA"/>
                  </a:rPr>
                  <a:t>52</a:t>
                </a:r>
              </a:p>
            </p:txBody>
          </p:sp>
        </p:grpSp>
      </p:grpSp>
      <p:sp>
        <p:nvSpPr>
          <p:cNvPr id="48" name="Google Shape;3961;p51">
            <a:extLst>
              <a:ext uri="{FF2B5EF4-FFF2-40B4-BE49-F238E27FC236}">
                <a16:creationId xmlns:a16="http://schemas.microsoft.com/office/drawing/2014/main" id="{D0ABDFE8-AAC7-3775-1A9C-7AA195C381D8}"/>
              </a:ext>
            </a:extLst>
          </p:cNvPr>
          <p:cNvSpPr txBox="1"/>
          <p:nvPr/>
        </p:nvSpPr>
        <p:spPr>
          <a:xfrm>
            <a:off x="995851" y="1200793"/>
            <a:ext cx="417728" cy="1222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GIN2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GIN3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GIN4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A33VDD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A33GND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PLLAG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FILT2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PLLAGND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PLLAVDD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HSYNCB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EXTCLK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VSYNCA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CLAMP</a:t>
            </a:r>
            <a:endParaRPr dirty="0"/>
          </a:p>
        </p:txBody>
      </p:sp>
      <p:sp>
        <p:nvSpPr>
          <p:cNvPr id="49" name="Google Shape;3962;p51">
            <a:extLst>
              <a:ext uri="{FF2B5EF4-FFF2-40B4-BE49-F238E27FC236}">
                <a16:creationId xmlns:a16="http://schemas.microsoft.com/office/drawing/2014/main" id="{EDB77384-6D83-2CE0-4824-C5F300AD97B8}"/>
              </a:ext>
            </a:extLst>
          </p:cNvPr>
          <p:cNvSpPr txBox="1"/>
          <p:nvPr/>
        </p:nvSpPr>
        <p:spPr>
          <a:xfrm>
            <a:off x="750624" y="1200792"/>
            <a:ext cx="458136" cy="1412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SOGIN2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SOGIN3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A33GND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A33VDD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NSUB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PLLF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FILT1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PLLAVDD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PLLAGND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HSYNCA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VSYNCB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COAST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" name="Google Shape;3964;p51">
            <a:extLst>
              <a:ext uri="{FF2B5EF4-FFF2-40B4-BE49-F238E27FC236}">
                <a16:creationId xmlns:a16="http://schemas.microsoft.com/office/drawing/2014/main" id="{34A963E6-1FC8-FC4D-4BFF-3455303245EC}"/>
              </a:ext>
            </a:extLst>
          </p:cNvPr>
          <p:cNvSpPr txBox="1"/>
          <p:nvPr/>
        </p:nvSpPr>
        <p:spPr>
          <a:xfrm>
            <a:off x="598423" y="1197584"/>
            <a:ext cx="284259" cy="1222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100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98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96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94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92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90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88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86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84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82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80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78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76</a:t>
            </a:r>
            <a:endParaRPr dirty="0"/>
          </a:p>
        </p:txBody>
      </p:sp>
      <p:sp>
        <p:nvSpPr>
          <p:cNvPr id="52" name="Google Shape;3965;p51">
            <a:extLst>
              <a:ext uri="{FF2B5EF4-FFF2-40B4-BE49-F238E27FC236}">
                <a16:creationId xmlns:a16="http://schemas.microsoft.com/office/drawing/2014/main" id="{1520149D-6A53-8D5A-64AC-338CB2B21752}"/>
              </a:ext>
            </a:extLst>
          </p:cNvPr>
          <p:cNvSpPr txBox="1"/>
          <p:nvPr/>
        </p:nvSpPr>
        <p:spPr>
          <a:xfrm>
            <a:off x="521282" y="1200792"/>
            <a:ext cx="242374" cy="1222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99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97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95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93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91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89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87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85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83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81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79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77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-</a:t>
            </a:r>
          </a:p>
        </p:txBody>
      </p:sp>
      <p:sp>
        <p:nvSpPr>
          <p:cNvPr id="53" name="Google Shape;3966;p51">
            <a:extLst>
              <a:ext uri="{FF2B5EF4-FFF2-40B4-BE49-F238E27FC236}">
                <a16:creationId xmlns:a16="http://schemas.microsoft.com/office/drawing/2014/main" id="{CCFA4B5A-087D-2243-C47D-123FF80997CC}"/>
              </a:ext>
            </a:extLst>
          </p:cNvPr>
          <p:cNvSpPr/>
          <p:nvPr/>
        </p:nvSpPr>
        <p:spPr>
          <a:xfrm>
            <a:off x="590059" y="1200791"/>
            <a:ext cx="211420" cy="118610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65">
              <a:solidFill>
                <a:schemeClr val="lt1"/>
              </a:solidFill>
              <a:latin typeface="HeadLineA"/>
              <a:ea typeface="HeadLineA"/>
              <a:cs typeface="HeadLineA"/>
              <a:sym typeface="HeadLineA"/>
            </a:endParaRPr>
          </a:p>
        </p:txBody>
      </p:sp>
      <p:sp>
        <p:nvSpPr>
          <p:cNvPr id="58" name="Google Shape;3961;p51">
            <a:extLst>
              <a:ext uri="{FF2B5EF4-FFF2-40B4-BE49-F238E27FC236}">
                <a16:creationId xmlns:a16="http://schemas.microsoft.com/office/drawing/2014/main" id="{6FCBEBCF-2393-6E1A-CAE9-AB677F30F196}"/>
              </a:ext>
            </a:extLst>
          </p:cNvPr>
          <p:cNvSpPr txBox="1"/>
          <p:nvPr/>
        </p:nvSpPr>
        <p:spPr>
          <a:xfrm>
            <a:off x="4572000" y="3658951"/>
            <a:ext cx="396887" cy="139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G20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K20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L20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N18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3V3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P18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U18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M17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R17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T18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K18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3V3</a:t>
            </a:r>
            <a:endParaRPr dirty="0"/>
          </a:p>
        </p:txBody>
      </p:sp>
      <p:sp>
        <p:nvSpPr>
          <p:cNvPr id="59" name="Google Shape;3962;p51">
            <a:extLst>
              <a:ext uri="{FF2B5EF4-FFF2-40B4-BE49-F238E27FC236}">
                <a16:creationId xmlns:a16="http://schemas.microsoft.com/office/drawing/2014/main" id="{B41A4382-6295-74A3-12CA-6E74DADFE0CC}"/>
              </a:ext>
            </a:extLst>
          </p:cNvPr>
          <p:cNvSpPr txBox="1"/>
          <p:nvPr/>
        </p:nvSpPr>
        <p:spPr>
          <a:xfrm>
            <a:off x="4414418" y="3658951"/>
            <a:ext cx="396887" cy="139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J20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L18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M18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N17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3V3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U17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5V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T17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P17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R18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C18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U16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3V3</a:t>
            </a:r>
            <a:endParaRPr dirty="0"/>
          </a:p>
        </p:txBody>
      </p:sp>
      <p:grpSp>
        <p:nvGrpSpPr>
          <p:cNvPr id="60" name="Google Shape;3963;p51">
            <a:extLst>
              <a:ext uri="{FF2B5EF4-FFF2-40B4-BE49-F238E27FC236}">
                <a16:creationId xmlns:a16="http://schemas.microsoft.com/office/drawing/2014/main" id="{4FA86001-8A60-9F4A-81A5-266D2C88C12E}"/>
              </a:ext>
            </a:extLst>
          </p:cNvPr>
          <p:cNvGrpSpPr/>
          <p:nvPr/>
        </p:nvGrpSpPr>
        <p:grpSpPr>
          <a:xfrm>
            <a:off x="4201578" y="3654139"/>
            <a:ext cx="344916" cy="1396496"/>
            <a:chOff x="5407550" y="3284884"/>
            <a:chExt cx="344916" cy="1396496"/>
          </a:xfrm>
        </p:grpSpPr>
        <p:sp>
          <p:nvSpPr>
            <p:cNvPr id="61" name="Google Shape;3964;p51">
              <a:extLst>
                <a:ext uri="{FF2B5EF4-FFF2-40B4-BE49-F238E27FC236}">
                  <a16:creationId xmlns:a16="http://schemas.microsoft.com/office/drawing/2014/main" id="{ED55F7F8-CFEF-E337-A4C5-515E1B8A0678}"/>
                </a:ext>
              </a:extLst>
            </p:cNvPr>
            <p:cNvSpPr txBox="1"/>
            <p:nvPr/>
          </p:nvSpPr>
          <p:spPr>
            <a:xfrm>
              <a:off x="5510092" y="3284884"/>
              <a:ext cx="242374" cy="1396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29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27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25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23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21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19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17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15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13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11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9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7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5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</a:t>
              </a:r>
            </a:p>
          </p:txBody>
        </p:sp>
        <p:sp>
          <p:nvSpPr>
            <p:cNvPr id="62" name="Google Shape;3965;p51">
              <a:extLst>
                <a:ext uri="{FF2B5EF4-FFF2-40B4-BE49-F238E27FC236}">
                  <a16:creationId xmlns:a16="http://schemas.microsoft.com/office/drawing/2014/main" id="{DD6E6BE4-5544-1212-EB28-294025415941}"/>
                </a:ext>
              </a:extLst>
            </p:cNvPr>
            <p:cNvSpPr txBox="1"/>
            <p:nvPr/>
          </p:nvSpPr>
          <p:spPr>
            <a:xfrm>
              <a:off x="5407550" y="3284884"/>
              <a:ext cx="242374" cy="1396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30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28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26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24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22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20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18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16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14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12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10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8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6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4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</a:t>
              </a:r>
              <a:endPara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endParaRPr>
            </a:p>
          </p:txBody>
        </p:sp>
        <p:sp>
          <p:nvSpPr>
            <p:cNvPr id="63" name="Google Shape;3966;p51">
              <a:extLst>
                <a:ext uri="{FF2B5EF4-FFF2-40B4-BE49-F238E27FC236}">
                  <a16:creationId xmlns:a16="http://schemas.microsoft.com/office/drawing/2014/main" id="{E821D7EF-ED5D-17C5-483C-5D81213732AC}"/>
                </a:ext>
              </a:extLst>
            </p:cNvPr>
            <p:cNvSpPr/>
            <p:nvPr/>
          </p:nvSpPr>
          <p:spPr>
            <a:xfrm>
              <a:off x="5466802" y="3319921"/>
              <a:ext cx="211420" cy="131445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65">
                <a:solidFill>
                  <a:schemeClr val="lt1"/>
                </a:solidFill>
                <a:latin typeface="HeadLineA"/>
                <a:ea typeface="HeadLineA"/>
                <a:cs typeface="HeadLineA"/>
                <a:sym typeface="HeadLineA"/>
              </a:endParaRPr>
            </a:p>
          </p:txBody>
        </p:sp>
      </p:grpSp>
      <p:sp>
        <p:nvSpPr>
          <p:cNvPr id="65" name="Google Shape;3962;p51">
            <a:extLst>
              <a:ext uri="{FF2B5EF4-FFF2-40B4-BE49-F238E27FC236}">
                <a16:creationId xmlns:a16="http://schemas.microsoft.com/office/drawing/2014/main" id="{62F21652-9783-1BDE-12D6-54ABA5E50750}"/>
              </a:ext>
            </a:extLst>
          </p:cNvPr>
          <p:cNvSpPr txBox="1"/>
          <p:nvPr/>
        </p:nvSpPr>
        <p:spPr>
          <a:xfrm>
            <a:off x="4414418" y="2348262"/>
            <a:ext cx="396887" cy="139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D1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C1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C2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E3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3V3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B4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5V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D3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C17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B18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B20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F20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3V3</a:t>
            </a:r>
            <a:endParaRPr dirty="0"/>
          </a:p>
        </p:txBody>
      </p:sp>
      <p:grpSp>
        <p:nvGrpSpPr>
          <p:cNvPr id="66" name="Google Shape;3963;p51">
            <a:extLst>
              <a:ext uri="{FF2B5EF4-FFF2-40B4-BE49-F238E27FC236}">
                <a16:creationId xmlns:a16="http://schemas.microsoft.com/office/drawing/2014/main" id="{E1060ED5-FD32-F98D-F387-F59F37431BA2}"/>
              </a:ext>
            </a:extLst>
          </p:cNvPr>
          <p:cNvGrpSpPr/>
          <p:nvPr/>
        </p:nvGrpSpPr>
        <p:grpSpPr>
          <a:xfrm>
            <a:off x="4201578" y="2343450"/>
            <a:ext cx="344916" cy="1396496"/>
            <a:chOff x="5407550" y="3284884"/>
            <a:chExt cx="344916" cy="1396496"/>
          </a:xfrm>
        </p:grpSpPr>
        <p:sp>
          <p:nvSpPr>
            <p:cNvPr id="67" name="Google Shape;3964;p51">
              <a:extLst>
                <a:ext uri="{FF2B5EF4-FFF2-40B4-BE49-F238E27FC236}">
                  <a16:creationId xmlns:a16="http://schemas.microsoft.com/office/drawing/2014/main" id="{D5BA2ED0-64B2-04FE-4A57-53BAD8E1D8AB}"/>
                </a:ext>
              </a:extLst>
            </p:cNvPr>
            <p:cNvSpPr txBox="1"/>
            <p:nvPr/>
          </p:nvSpPr>
          <p:spPr>
            <a:xfrm>
              <a:off x="5510092" y="3284884"/>
              <a:ext cx="242374" cy="1396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29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27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25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23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21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19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17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15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13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11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9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7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5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</a:t>
              </a:r>
            </a:p>
          </p:txBody>
        </p:sp>
        <p:sp>
          <p:nvSpPr>
            <p:cNvPr id="68" name="Google Shape;3965;p51">
              <a:extLst>
                <a:ext uri="{FF2B5EF4-FFF2-40B4-BE49-F238E27FC236}">
                  <a16:creationId xmlns:a16="http://schemas.microsoft.com/office/drawing/2014/main" id="{4F3E2D96-82EF-6B44-6C5D-6DAD86085AB6}"/>
                </a:ext>
              </a:extLst>
            </p:cNvPr>
            <p:cNvSpPr txBox="1"/>
            <p:nvPr/>
          </p:nvSpPr>
          <p:spPr>
            <a:xfrm>
              <a:off x="5407550" y="3284884"/>
              <a:ext cx="242374" cy="1396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30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28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26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24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22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20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18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16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14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12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10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8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6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4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</a:t>
              </a:r>
              <a:endPara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endParaRPr>
            </a:p>
          </p:txBody>
        </p:sp>
        <p:sp>
          <p:nvSpPr>
            <p:cNvPr id="69" name="Google Shape;3966;p51">
              <a:extLst>
                <a:ext uri="{FF2B5EF4-FFF2-40B4-BE49-F238E27FC236}">
                  <a16:creationId xmlns:a16="http://schemas.microsoft.com/office/drawing/2014/main" id="{B744E2C1-9E27-1F96-6F88-449313A27359}"/>
                </a:ext>
              </a:extLst>
            </p:cNvPr>
            <p:cNvSpPr/>
            <p:nvPr/>
          </p:nvSpPr>
          <p:spPr>
            <a:xfrm>
              <a:off x="5466802" y="3319921"/>
              <a:ext cx="211420" cy="131445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65">
                <a:solidFill>
                  <a:schemeClr val="lt1"/>
                </a:solidFill>
                <a:latin typeface="HeadLineA"/>
                <a:ea typeface="HeadLineA"/>
                <a:cs typeface="HeadLineA"/>
                <a:sym typeface="HeadLineA"/>
              </a:endParaRPr>
            </a:p>
          </p:txBody>
        </p:sp>
      </p:grpSp>
      <p:sp>
        <p:nvSpPr>
          <p:cNvPr id="64" name="Google Shape;3961;p51">
            <a:extLst>
              <a:ext uri="{FF2B5EF4-FFF2-40B4-BE49-F238E27FC236}">
                <a16:creationId xmlns:a16="http://schemas.microsoft.com/office/drawing/2014/main" id="{7CE9C5D3-E667-1B2A-EACC-F682501B6891}"/>
              </a:ext>
            </a:extLst>
          </p:cNvPr>
          <p:cNvSpPr txBox="1"/>
          <p:nvPr/>
        </p:nvSpPr>
        <p:spPr>
          <a:xfrm>
            <a:off x="4572000" y="2348262"/>
            <a:ext cx="396887" cy="139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E2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D2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B1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A3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3V3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C3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C4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A18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A19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B19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D20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3V3</a:t>
            </a:r>
            <a:endParaRPr dirty="0"/>
          </a:p>
        </p:txBody>
      </p:sp>
      <p:sp>
        <p:nvSpPr>
          <p:cNvPr id="3" name="Google Shape;3961;p51">
            <a:extLst>
              <a:ext uri="{FF2B5EF4-FFF2-40B4-BE49-F238E27FC236}">
                <a16:creationId xmlns:a16="http://schemas.microsoft.com/office/drawing/2014/main" id="{BAD27A47-5847-45B5-805A-6454B3168181}"/>
              </a:ext>
            </a:extLst>
          </p:cNvPr>
          <p:cNvSpPr txBox="1"/>
          <p:nvPr/>
        </p:nvSpPr>
        <p:spPr>
          <a:xfrm>
            <a:off x="1487915" y="1195942"/>
            <a:ext cx="396887" cy="1222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-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IOGND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B9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B7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B5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B3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B1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DVDD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IOVDD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G9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G7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G5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G3</a:t>
            </a:r>
            <a:endParaRPr dirty="0"/>
          </a:p>
        </p:txBody>
      </p:sp>
      <p:sp>
        <p:nvSpPr>
          <p:cNvPr id="5" name="Google Shape;3962;p51">
            <a:extLst>
              <a:ext uri="{FF2B5EF4-FFF2-40B4-BE49-F238E27FC236}">
                <a16:creationId xmlns:a16="http://schemas.microsoft.com/office/drawing/2014/main" id="{3CDD2C01-8A44-F074-8EF3-FE0EA1D16E38}"/>
              </a:ext>
            </a:extLst>
          </p:cNvPr>
          <p:cNvSpPr txBox="1"/>
          <p:nvPr/>
        </p:nvSpPr>
        <p:spPr>
          <a:xfrm>
            <a:off x="1262501" y="1195941"/>
            <a:ext cx="396887" cy="1222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IOVDD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DTACLK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B8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B6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B4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B2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B0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IOGND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G8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G6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G4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G2</a:t>
            </a:r>
            <a:endParaRPr dirty="0"/>
          </a:p>
        </p:txBody>
      </p:sp>
      <p:grpSp>
        <p:nvGrpSpPr>
          <p:cNvPr id="6" name="Google Shape;3963;p51">
            <a:extLst>
              <a:ext uri="{FF2B5EF4-FFF2-40B4-BE49-F238E27FC236}">
                <a16:creationId xmlns:a16="http://schemas.microsoft.com/office/drawing/2014/main" id="{AB6369C8-62A0-9959-810F-4F94FBE10CB8}"/>
              </a:ext>
            </a:extLst>
          </p:cNvPr>
          <p:cNvGrpSpPr/>
          <p:nvPr/>
        </p:nvGrpSpPr>
        <p:grpSpPr>
          <a:xfrm>
            <a:off x="1759876" y="1195941"/>
            <a:ext cx="341708" cy="1222602"/>
            <a:chOff x="5407550" y="3286488"/>
            <a:chExt cx="341708" cy="1222602"/>
          </a:xfrm>
        </p:grpSpPr>
        <p:sp>
          <p:nvSpPr>
            <p:cNvPr id="7" name="Google Shape;3964;p51">
              <a:extLst>
                <a:ext uri="{FF2B5EF4-FFF2-40B4-BE49-F238E27FC236}">
                  <a16:creationId xmlns:a16="http://schemas.microsoft.com/office/drawing/2014/main" id="{4BBD905D-F706-D46E-A95E-52EB2F57FFAF}"/>
                </a:ext>
              </a:extLst>
            </p:cNvPr>
            <p:cNvSpPr txBox="1"/>
            <p:nvPr/>
          </p:nvSpPr>
          <p:spPr>
            <a:xfrm>
              <a:off x="5506884" y="3286488"/>
              <a:ext cx="242374" cy="12226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-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27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29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31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33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35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37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39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41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43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45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47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49</a:t>
              </a:r>
              <a:endParaRPr dirty="0"/>
            </a:p>
          </p:txBody>
        </p:sp>
        <p:sp>
          <p:nvSpPr>
            <p:cNvPr id="8" name="Google Shape;3965;p51">
              <a:extLst>
                <a:ext uri="{FF2B5EF4-FFF2-40B4-BE49-F238E27FC236}">
                  <a16:creationId xmlns:a16="http://schemas.microsoft.com/office/drawing/2014/main" id="{448864C4-48FB-DA5A-A292-E075BBBB6649}"/>
                </a:ext>
              </a:extLst>
            </p:cNvPr>
            <p:cNvSpPr txBox="1"/>
            <p:nvPr/>
          </p:nvSpPr>
          <p:spPr>
            <a:xfrm>
              <a:off x="5407550" y="3286488"/>
              <a:ext cx="242374" cy="12226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26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28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30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32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34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36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38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40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42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44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46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48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cs typeface="HeadLineA"/>
                  <a:sym typeface="HeadLineA"/>
                </a:rPr>
                <a:t>50</a:t>
              </a:r>
            </a:p>
          </p:txBody>
        </p:sp>
        <p:sp>
          <p:nvSpPr>
            <p:cNvPr id="9" name="Google Shape;3966;p51">
              <a:extLst>
                <a:ext uri="{FF2B5EF4-FFF2-40B4-BE49-F238E27FC236}">
                  <a16:creationId xmlns:a16="http://schemas.microsoft.com/office/drawing/2014/main" id="{82A21083-087A-F5C9-EEB1-11ED6F471659}"/>
                </a:ext>
              </a:extLst>
            </p:cNvPr>
            <p:cNvSpPr/>
            <p:nvPr/>
          </p:nvSpPr>
          <p:spPr>
            <a:xfrm>
              <a:off x="5466802" y="3291340"/>
              <a:ext cx="211420" cy="1186104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65">
                <a:solidFill>
                  <a:schemeClr val="lt1"/>
                </a:solidFill>
                <a:latin typeface="HeadLineA"/>
                <a:ea typeface="HeadLineA"/>
                <a:cs typeface="HeadLineA"/>
                <a:sym typeface="HeadLineA"/>
              </a:endParaRPr>
            </a:p>
          </p:txBody>
        </p:sp>
      </p:grpSp>
      <p:sp>
        <p:nvSpPr>
          <p:cNvPr id="2" name="Google Shape;3961;p51">
            <a:extLst>
              <a:ext uri="{FF2B5EF4-FFF2-40B4-BE49-F238E27FC236}">
                <a16:creationId xmlns:a16="http://schemas.microsoft.com/office/drawing/2014/main" id="{A9BF524B-0991-411E-28BB-CFBC013051E9}"/>
              </a:ext>
            </a:extLst>
          </p:cNvPr>
          <p:cNvSpPr txBox="1"/>
          <p:nvPr/>
        </p:nvSpPr>
        <p:spPr>
          <a:xfrm>
            <a:off x="4572000" y="1037573"/>
            <a:ext cx="396887" cy="139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-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B2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K4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rPr>
              <a:t>A2</a:t>
            </a:r>
            <a:endParaRPr lang="en-US" sz="565" dirty="0">
              <a:solidFill>
                <a:schemeClr val="dk1"/>
              </a:solidFill>
              <a:latin typeface="HeadLineA"/>
              <a:ea typeface="HeadLineA"/>
              <a:sym typeface="HeadLine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3V3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J5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H5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H3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F3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E4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E1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3V3</a:t>
            </a:r>
            <a:endParaRPr dirty="0"/>
          </a:p>
        </p:txBody>
      </p:sp>
      <p:sp>
        <p:nvSpPr>
          <p:cNvPr id="10" name="Google Shape;3962;p51">
            <a:extLst>
              <a:ext uri="{FF2B5EF4-FFF2-40B4-BE49-F238E27FC236}">
                <a16:creationId xmlns:a16="http://schemas.microsoft.com/office/drawing/2014/main" id="{0C9B6B34-0230-369C-451C-5446C005E53A}"/>
              </a:ext>
            </a:extLst>
          </p:cNvPr>
          <p:cNvSpPr txBox="1"/>
          <p:nvPr/>
        </p:nvSpPr>
        <p:spPr>
          <a:xfrm>
            <a:off x="4414418" y="1037573"/>
            <a:ext cx="396887" cy="139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-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E19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B3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K5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3V3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K3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5V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J4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H4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G3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F1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F2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GND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" dirty="0">
                <a:solidFill>
                  <a:schemeClr val="dk1"/>
                </a:solidFill>
                <a:latin typeface="HeadLineA"/>
                <a:ea typeface="HeadLineA"/>
                <a:sym typeface="HeadLineA"/>
              </a:rPr>
              <a:t>3V3</a:t>
            </a:r>
            <a:endParaRPr dirty="0"/>
          </a:p>
        </p:txBody>
      </p:sp>
      <p:grpSp>
        <p:nvGrpSpPr>
          <p:cNvPr id="13" name="Google Shape;3963;p51">
            <a:extLst>
              <a:ext uri="{FF2B5EF4-FFF2-40B4-BE49-F238E27FC236}">
                <a16:creationId xmlns:a16="http://schemas.microsoft.com/office/drawing/2014/main" id="{62CE9EED-BB1C-EC42-1D6F-0992E6717F6C}"/>
              </a:ext>
            </a:extLst>
          </p:cNvPr>
          <p:cNvGrpSpPr/>
          <p:nvPr/>
        </p:nvGrpSpPr>
        <p:grpSpPr>
          <a:xfrm>
            <a:off x="4201578" y="1032761"/>
            <a:ext cx="344916" cy="1396496"/>
            <a:chOff x="5407550" y="3284884"/>
            <a:chExt cx="344916" cy="1396496"/>
          </a:xfrm>
        </p:grpSpPr>
        <p:sp>
          <p:nvSpPr>
            <p:cNvPr id="14" name="Google Shape;3964;p51">
              <a:extLst>
                <a:ext uri="{FF2B5EF4-FFF2-40B4-BE49-F238E27FC236}">
                  <a16:creationId xmlns:a16="http://schemas.microsoft.com/office/drawing/2014/main" id="{207A2F5F-BF7D-262F-0B46-40F05BE44EAB}"/>
                </a:ext>
              </a:extLst>
            </p:cNvPr>
            <p:cNvSpPr txBox="1"/>
            <p:nvPr/>
          </p:nvSpPr>
          <p:spPr>
            <a:xfrm>
              <a:off x="5510092" y="3284884"/>
              <a:ext cx="242374" cy="1396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29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27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25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23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21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19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17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15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13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11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9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7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5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</a:t>
              </a:r>
            </a:p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</a:t>
              </a:r>
            </a:p>
          </p:txBody>
        </p:sp>
        <p:sp>
          <p:nvSpPr>
            <p:cNvPr id="15" name="Google Shape;3965;p51">
              <a:extLst>
                <a:ext uri="{FF2B5EF4-FFF2-40B4-BE49-F238E27FC236}">
                  <a16:creationId xmlns:a16="http://schemas.microsoft.com/office/drawing/2014/main" id="{6D52C6C0-32BC-B3BD-8446-3A2E1D40DBAB}"/>
                </a:ext>
              </a:extLst>
            </p:cNvPr>
            <p:cNvSpPr txBox="1"/>
            <p:nvPr/>
          </p:nvSpPr>
          <p:spPr>
            <a:xfrm>
              <a:off x="5407550" y="3284884"/>
              <a:ext cx="242374" cy="1396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30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28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26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24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22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20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18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16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14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12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10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8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6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4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5" dirty="0">
                  <a:solidFill>
                    <a:schemeClr val="dk1"/>
                  </a:solidFill>
                  <a:latin typeface="HeadLineA"/>
                  <a:ea typeface="HeadLineA"/>
                  <a:sym typeface="HeadLineA"/>
                </a:rPr>
                <a:t>2</a:t>
              </a:r>
              <a:endParaRPr lang="en-US" sz="565" dirty="0">
                <a:solidFill>
                  <a:schemeClr val="dk1"/>
                </a:solidFill>
                <a:latin typeface="HeadLineA"/>
                <a:ea typeface="HeadLineA"/>
                <a:cs typeface="HeadLineA"/>
                <a:sym typeface="HeadLineA"/>
              </a:endParaRPr>
            </a:p>
          </p:txBody>
        </p:sp>
        <p:sp>
          <p:nvSpPr>
            <p:cNvPr id="16" name="Google Shape;3966;p51">
              <a:extLst>
                <a:ext uri="{FF2B5EF4-FFF2-40B4-BE49-F238E27FC236}">
                  <a16:creationId xmlns:a16="http://schemas.microsoft.com/office/drawing/2014/main" id="{51ADB7A7-CD45-16AE-9D9C-69DD5A447B18}"/>
                </a:ext>
              </a:extLst>
            </p:cNvPr>
            <p:cNvSpPr/>
            <p:nvPr/>
          </p:nvSpPr>
          <p:spPr>
            <a:xfrm>
              <a:off x="5466802" y="3319921"/>
              <a:ext cx="211420" cy="131445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65">
                <a:solidFill>
                  <a:schemeClr val="lt1"/>
                </a:solidFill>
                <a:latin typeface="HeadLineA"/>
                <a:ea typeface="HeadLineA"/>
                <a:cs typeface="HeadLineA"/>
                <a:sym typeface="HeadLineA"/>
              </a:endParaRPr>
            </a:p>
          </p:txBody>
        </p:sp>
      </p:grpSp>
      <p:pic>
        <p:nvPicPr>
          <p:cNvPr id="17" name="図 16">
            <a:extLst>
              <a:ext uri="{FF2B5EF4-FFF2-40B4-BE49-F238E27FC236}">
                <a16:creationId xmlns:a16="http://schemas.microsoft.com/office/drawing/2014/main" id="{09F3C1E1-5392-C4D3-60ED-296C5D5FE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5120341" y="2277401"/>
            <a:ext cx="1348536" cy="1250741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5B60FBD0-0F4A-A8E5-32D1-B58F28960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269492" y="1106405"/>
            <a:ext cx="1050233" cy="122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954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38103AF-ED78-EB47-EDC0-EEBCDFF93F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94" t="13431" r="25765" b="13431"/>
          <a:stretch>
            <a:fillRect/>
          </a:stretch>
        </p:blipFill>
        <p:spPr>
          <a:xfrm>
            <a:off x="1604772" y="729028"/>
            <a:ext cx="5934456" cy="5399944"/>
          </a:xfrm>
          <a:prstGeom prst="rect">
            <a:avLst/>
          </a:prstGeom>
        </p:spPr>
      </p:pic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9D674E35-5C92-8D5D-689C-B486FD95A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(c) 2026. Kunihiko Ohnaka. All rights reserved.</a:t>
            </a:r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22AC0AC-C7CB-D774-EB1C-C0925D276D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803" t="13602" r="47093" b="13766"/>
          <a:stretch>
            <a:fillRect/>
          </a:stretch>
        </p:blipFill>
        <p:spPr>
          <a:xfrm>
            <a:off x="7539228" y="729028"/>
            <a:ext cx="1185272" cy="539994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F4AB9B3-7430-4526-7486-C2F225AE49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794" t="13508" r="42941" b="13632"/>
          <a:stretch>
            <a:fillRect/>
          </a:stretch>
        </p:blipFill>
        <p:spPr>
          <a:xfrm>
            <a:off x="514350" y="729028"/>
            <a:ext cx="1090422" cy="543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711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AF68B-EAA0-6FA9-5BEA-6EBAE69A8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4CCCFC7-B3C9-33E7-E3F9-2593CAFAED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94" t="13931" r="25765" b="13850"/>
          <a:stretch>
            <a:fillRect/>
          </a:stretch>
        </p:blipFill>
        <p:spPr>
          <a:xfrm rot="10800000">
            <a:off x="2610160" y="1985366"/>
            <a:ext cx="4006800" cy="3600051"/>
          </a:xfrm>
          <a:prstGeom prst="rect">
            <a:avLst/>
          </a:prstGeom>
        </p:spPr>
      </p:pic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2ECBF535-D99E-A783-FD69-EA489BCA8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(c) 2026. Kunihiko Ohnaka. All rights reserved.</a:t>
            </a:r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485C4A1-06FA-49C0-B749-69C45FC23A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803" t="13763" r="47093" b="13766"/>
          <a:stretch>
            <a:fillRect/>
          </a:stretch>
        </p:blipFill>
        <p:spPr>
          <a:xfrm rot="10800000">
            <a:off x="1171641" y="1985418"/>
            <a:ext cx="791942" cy="360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1B4008B-DDEE-AB8F-7EC9-1241D4C409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794" t="14010" r="42941" b="13632"/>
          <a:stretch>
            <a:fillRect/>
          </a:stretch>
        </p:blipFill>
        <p:spPr>
          <a:xfrm rot="10800000">
            <a:off x="7263535" y="1985366"/>
            <a:ext cx="727200" cy="3599530"/>
          </a:xfrm>
          <a:prstGeom prst="rect">
            <a:avLst/>
          </a:prstGeom>
        </p:spPr>
      </p:pic>
      <p:sp>
        <p:nvSpPr>
          <p:cNvPr id="3" name="角丸四角形 2">
            <a:extLst>
              <a:ext uri="{FF2B5EF4-FFF2-40B4-BE49-F238E27FC236}">
                <a16:creationId xmlns:a16="http://schemas.microsoft.com/office/drawing/2014/main" id="{1E38FCFA-C42D-CA40-E7E6-156EF06EE543}"/>
              </a:ext>
            </a:extLst>
          </p:cNvPr>
          <p:cNvSpPr/>
          <p:nvPr/>
        </p:nvSpPr>
        <p:spPr>
          <a:xfrm>
            <a:off x="2719137" y="1985366"/>
            <a:ext cx="3600052" cy="3600052"/>
          </a:xfrm>
          <a:prstGeom prst="roundRect">
            <a:avLst>
              <a:gd name="adj" fmla="val 3522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646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</TotalTime>
  <Words>783</Words>
  <Application>Microsoft Macintosh PowerPoint</Application>
  <PresentationFormat>画面に合わせる (4:3)</PresentationFormat>
  <Paragraphs>715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HeadLineA</vt:lpstr>
      <vt:lpstr>游ゴシック</vt:lpstr>
      <vt:lpstr>游ゴシック Light</vt:lpstr>
      <vt:lpstr>Arial</vt:lpstr>
      <vt:lpstr>Office テーマ</vt:lpstr>
      <vt:lpstr>Inside RetroCastX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大中 邦彦</dc:creator>
  <cp:lastModifiedBy>大中 邦彦</cp:lastModifiedBy>
  <cp:revision>8</cp:revision>
  <cp:lastPrinted>2026-08-07T04:33:48Z</cp:lastPrinted>
  <dcterms:created xsi:type="dcterms:W3CDTF">2026-08-07T03:37:33Z</dcterms:created>
  <dcterms:modified xsi:type="dcterms:W3CDTF">2026-09-19T15:17:17Z</dcterms:modified>
</cp:coreProperties>
</file>